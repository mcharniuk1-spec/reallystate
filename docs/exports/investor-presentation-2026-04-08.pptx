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Bulgaria Real Estate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We are building the first unified property marketplace for Bulgaria that combines multi-source listing aggregation, deduplication, map-first search, and an AI property assistant. The immediate wedge is Varna and the coastal corridor, where price growth, construction intensity, and short-term rental demand create a high-velocity market with clear monetization.</a:t>
            </a:r>
          </a:p>
        </p:txBody>
      </p:sp>
      <p:pic>
        <p:nvPicPr>
          <p:cNvPr id="4" name="Picture 3" descr="title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NSI, Eurostat, project source registry (2024-2026).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Problem: Fragmented Supply, Broken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Buyers and renters must manually check many disconnected portals, agencies, and social channels to see a representative set of supply. This creates search fatigue, duplicate listings, and delayed decisions while agencies and owners lose qualified demand because discovery is fragmented.</a:t>
            </a:r>
          </a:p>
        </p:txBody>
      </p:sp>
      <p:pic>
        <p:nvPicPr>
          <p:cNvPr id="4" name="Picture 3" descr="sourc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Project source matrix, Bulgarian portals audit (2026-04).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Why Now: Market Momentum Is Exceptional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Bulgaria's residential market is expanding faster than the EU average, with coastal cities showing sustained momentum and strong transaction activity. This timing allows a modern product to establish distribution before incumbents close UX and data-quality gaps.</a:t>
            </a:r>
          </a:p>
        </p:txBody>
      </p:sp>
      <p:pic>
        <p:nvPicPr>
          <p:cNvPr id="4" name="Picture 3" descr="mark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Eurostat HPI, national market reviews, regional agency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Beachhead Market: Varna + Burgas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Varna is the MVP focus because it combines high listing churn, strong buyer intent, and compelling map-based discovery use cases. Burgas is a natural second coastal expansion to scale supply depth and improve model quality for price and demand prediction.</a:t>
            </a:r>
          </a:p>
        </p:txBody>
      </p:sp>
      <p:pic>
        <p:nvPicPr>
          <p:cNvPr id="4" name="Picture 3" descr="varna_burg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Regional price and construction snapshots (2024-2026).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Market Size: TAM, SAM, SOM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The addressable revenue pool supports a venture-scale business if execution compounds from coastal leadership to national coverage. Our SOM assumptions are grounded in phased rollout, controlled CAC, and progressive source onboarding with legal/compliance gates.</a:t>
            </a:r>
          </a:p>
        </p:txBody>
      </p:sp>
      <p:pic>
        <p:nvPicPr>
          <p:cNvPr id="4" name="Picture 3" descr="tam_sam_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Internal unit economics model and market sizing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Business Model and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Revenue is diversified across agency subscriptions, premium listings, lead products, analytics, and future AI add-ons. The model targets strong gross margins by keeping ingestion and ranking systems highly automated while preserving compliance controls.</a:t>
            </a:r>
          </a:p>
        </p:txBody>
      </p:sp>
      <p:pic>
        <p:nvPicPr>
          <p:cNvPr id="4" name="Picture 3" descr="unit_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Internal pricing model, planned SKU structure, cost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Go-To-Market and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The launch motion starts with focused inventory quality and buyer-side utility in Varna, then expands to Burgas and additional cities. Each stage increases defensibility through better coverage, better ranking, and higher switching costs for agencies and power users.</a:t>
            </a:r>
          </a:p>
        </p:txBody>
      </p:sp>
      <p:pic>
        <p:nvPicPr>
          <p:cNvPr id="4" name="Picture 3" descr="g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Execution roadmap in PLAN.md and TASKS.md.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Product Experience: Search, Map, 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The core experience is map-first with rich filters, canonical property pages, and an AI chat layer that helps users narrow options quickly. This creates a faster decision loop than static listing portals and supports future conversational commerce flows.</a:t>
            </a:r>
          </a:p>
        </p:txBody>
      </p:sp>
      <p:pic>
        <p:nvPicPr>
          <p:cNvPr id="4" name="Picture 3" descr="product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Product UX structure and architecture execution guide.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Execution Progress and Delivery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The program is organized into parallel specialist lanes with explicit dependencies and verification gates. This structure keeps engineering throughput high while preserving quality on data, compliance, and product experience.</a:t>
            </a:r>
          </a:p>
        </p:txBody>
      </p:sp>
      <p:pic>
        <p:nvPicPr>
          <p:cNvPr id="4" name="Picture 3" descr="execution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docs/agents/TASKS.md, dashboard exports, journey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Defensibility and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Our moat compounds from canonical data quality, cross-source deduplication, legal-safe ingestion workflows, and map/chat UX differentiation. As data density and user interaction increase, search relevance and lead quality improve, reinforcing the business flywheel.</a:t>
            </a:r>
          </a:p>
        </p:txBody>
      </p:sp>
      <p:pic>
        <p:nvPicPr>
          <p:cNvPr id="4" name="Picture 3" descr="m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Platform architecture and competitive benchmarking assumptions.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Primary risks include source volatility, legal constraints, and execution complexity. Mitigation is built into the operating model through source-tier controls, fixture-first testing, auditability, and staged geographic rollouts.</a:t>
            </a:r>
          </a:p>
        </p:txBody>
      </p:sp>
      <p:pic>
        <p:nvPicPr>
          <p:cNvPr id="4" name="Picture 3" descr="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Source registry legal/risk/access gates and QA protocol.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Calibri"/>
              </a:rPr>
              <a:t>We are preparing a public startup-grade launch and fundraising story with a clear sequence: finish stage-one scraping quality gates, ship Varna map-plus-chat MVP, and scale monetization by expanding verified supply and lead conversion outcomes.</a:t>
            </a:r>
          </a:p>
        </p:txBody>
      </p:sp>
      <p:pic>
        <p:nvPicPr>
          <p:cNvPr id="4" name="Picture 3" descr="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104241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Sources: Current roadmap and investor model assumptions.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